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5669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ambria"/>
              </a:rPr>
              <a:t>¿Dónde hay</a:t>
            </a:r>
          </a:p>
          <a:p>
            <a:r>
              <a:rPr sz="5200" b="1">
                <a:solidFill>
                  <a:srgbClr val="FFFFFF"/>
                </a:solidFill>
                <a:latin typeface="Cambria"/>
              </a:rPr>
              <a:t>sombra en</a:t>
            </a:r>
          </a:p>
          <a:p>
            <a:r>
              <a:rPr sz="5200" b="1">
                <a:solidFill>
                  <a:srgbClr val="FFFFFF"/>
                </a:solidFill>
                <a:latin typeface="Cambria"/>
              </a:rPr>
              <a:t>el patio?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>
                <a:solidFill>
                  <a:srgbClr val="F2B84B"/>
                </a:solidFill>
                <a:latin typeface="Calibri"/>
              </a:rPr>
              <a:t>17 de octubre · 11:30 a 14:30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C9D3E8"/>
                </a:solidFill>
                <a:latin typeface="Calibri"/>
              </a:rPr>
              <a:t>Montevideo, Uruguay</a:t>
            </a:r>
          </a:p>
        </p:txBody>
      </p:sp>
      <p:pic>
        <p:nvPicPr>
          <p:cNvPr id="5" name="Picture 4" descr="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120640" cy="4399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Cambria"/>
              </a:rPr>
              <a:t>El patio</a:t>
            </a:r>
          </a:p>
        </p:txBody>
      </p:sp>
      <p:pic>
        <p:nvPicPr>
          <p:cNvPr id="3" name="Picture 2" descr="pl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51848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64592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1828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3D5A80"/>
                </a:solidFill>
                <a:latin typeface="Cambria"/>
              </a:rPr>
              <a:t>40,90 × 24,43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239572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378"/>
                </a:solidFill>
                <a:latin typeface="Calibri"/>
              </a:rPr>
              <a:t>medidas del patio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15468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33375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3D5A80"/>
                </a:solidFill>
                <a:latin typeface="Cambria"/>
              </a:rPr>
              <a:t>19,2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9044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378"/>
                </a:solidFill>
                <a:latin typeface="Calibri"/>
              </a:rPr>
              <a:t>altura de las 3 paredes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663440"/>
            <a:ext cx="3474720" cy="12801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48463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3D5A80"/>
                </a:solidFill>
                <a:latin typeface="Cambria"/>
              </a:rPr>
              <a:t>7°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41324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378"/>
                </a:solidFill>
                <a:latin typeface="Calibri"/>
              </a:rPr>
              <a:t>el norte está 7° a la derecha (hacia el este) de la pared larga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Cambria"/>
              </a:rPr>
              <a:t>La sombra hora por hora</a:t>
            </a:r>
          </a:p>
        </p:txBody>
      </p:sp>
      <p:pic>
        <p:nvPicPr>
          <p:cNvPr id="3" name="Picture 2" descr="ho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748479" cy="539496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8138160" y="1737360"/>
            <a:ext cx="274320" cy="27432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49640" y="170992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1F2A44"/>
                </a:solidFill>
                <a:latin typeface="Calibri"/>
              </a:rPr>
              <a:t>sombra</a:t>
            </a:r>
          </a:p>
        </p:txBody>
      </p:sp>
      <p:sp>
        <p:nvSpPr>
          <p:cNvPr id="6" name="Oval 5"/>
          <p:cNvSpPr/>
          <p:nvPr/>
        </p:nvSpPr>
        <p:spPr>
          <a:xfrm>
            <a:off x="8138160" y="2240280"/>
            <a:ext cx="274320" cy="274320"/>
          </a:xfrm>
          <a:prstGeom prst="ellipse">
            <a:avLst/>
          </a:prstGeom>
          <a:solidFill>
            <a:srgbClr val="FBE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221284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1F2A44"/>
                </a:solidFill>
                <a:latin typeface="Calibri"/>
              </a:rPr>
              <a:t>sol directo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108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A6378"/>
                </a:solidFill>
                <a:latin typeface="Calibri"/>
              </a:rPr>
              <a:t>Hora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108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A6378"/>
                </a:solidFill>
                <a:latin typeface="Calibri"/>
              </a:rPr>
              <a:t>Altura 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31089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5A6378"/>
                </a:solidFill>
                <a:latin typeface="Calibri"/>
              </a:rPr>
              <a:t>Sombra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5204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11:30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520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F2A44"/>
                </a:solidFill>
                <a:latin typeface="Calibri"/>
              </a:rPr>
              <a:t>61°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3520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3D5A80"/>
                </a:solidFill>
                <a:latin typeface="Calibri"/>
              </a:rPr>
              <a:t>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069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12:30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069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F2A44"/>
                </a:solidFill>
                <a:latin typeface="Calibri"/>
              </a:rPr>
              <a:t>65°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40690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3D5A80"/>
                </a:solidFill>
                <a:latin typeface="Calibri"/>
              </a:rPr>
              <a:t>39%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6177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13:30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F2A44"/>
                </a:solidFill>
                <a:latin typeface="Calibri"/>
              </a:rPr>
              <a:t>61°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46177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3D5A80"/>
                </a:solidFill>
                <a:latin typeface="Calibri"/>
              </a:rPr>
              <a:t>46%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166359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14:30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16635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0">
                <a:solidFill>
                  <a:srgbClr val="1F2A44"/>
                </a:solidFill>
                <a:latin typeface="Calibri"/>
              </a:rPr>
              <a:t>53°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5166359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3D5A80"/>
                </a:solidFill>
                <a:latin typeface="Calibri"/>
              </a:rPr>
              <a:t>56%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8521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A6378"/>
                </a:solidFill>
                <a:latin typeface="Calibri"/>
              </a:rPr>
              <a:t>La sombra viene de las paredes norte, este y oeste.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Cambria"/>
              </a:rPr>
              <a:t>Las tres zonas</a:t>
            </a:r>
          </a:p>
        </p:txBody>
      </p:sp>
      <p:pic>
        <p:nvPicPr>
          <p:cNvPr id="3" name="Picture 2" descr="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518481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46304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58200" y="1691640"/>
            <a:ext cx="365760" cy="36576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16642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Siempre sombra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2402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3D5A80"/>
                </a:solidFill>
                <a:latin typeface="Calibri"/>
              </a:rPr>
              <a:t>344 m²  ·  34% del patio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378"/>
                </a:solidFill>
                <a:latin typeface="Calibri"/>
              </a:rPr>
              <a:t>pegada a la pared norte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15468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58200" y="3383280"/>
            <a:ext cx="365760" cy="36576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33558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A veces sombra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931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3D5A80"/>
                </a:solidFill>
                <a:latin typeface="Calibri"/>
              </a:rPr>
              <a:t>315 m²  ·  32% del patio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378"/>
                </a:solidFill>
                <a:latin typeface="Calibri"/>
              </a:rPr>
              <a:t>franjas este, oeste y borde de la sombra norte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84632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5074920"/>
            <a:ext cx="365760" cy="365760"/>
          </a:xfrm>
          <a:prstGeom prst="ellipse">
            <a:avLst/>
          </a:prstGeom>
          <a:solidFill>
            <a:srgbClr val="E86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504748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1F2A44"/>
                </a:solidFill>
                <a:latin typeface="Calibri"/>
              </a:rPr>
              <a:t>Nunca sombra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5623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3D5A80"/>
                </a:solidFill>
                <a:latin typeface="Calibri"/>
              </a:rPr>
              <a:t>340 m²  ·  34% del patio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59436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378"/>
                </a:solidFill>
                <a:latin typeface="Calibri"/>
              </a:rPr>
              <a:t>centro-sur del patio: sol directo las 4 horas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F2A44"/>
                </a:solidFill>
                <a:latin typeface="Cambria"/>
              </a:rPr>
              <a:t>Qué techar</a:t>
            </a:r>
          </a:p>
        </p:txBody>
      </p:sp>
      <p:pic>
        <p:nvPicPr>
          <p:cNvPr id="3" name="Picture 2" descr="med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223760" cy="482499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863840" y="1600200"/>
            <a:ext cx="365760" cy="365760"/>
          </a:xfrm>
          <a:prstGeom prst="ellipse">
            <a:avLst/>
          </a:prstGeom>
          <a:solidFill>
            <a:srgbClr val="E86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554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F2A44"/>
                </a:solidFill>
                <a:latin typeface="Cambria"/>
              </a:rPr>
              <a:t>Prioridad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20116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A6378"/>
                </a:solidFill>
                <a:latin typeface="Calibri"/>
              </a:rPr>
              <a:t>Sin sombra: 23,4 × 14,5 m (340 m²). Empieza a 10,8 m de la pared oeste y a 6,7 m de la este, pegado al borde abierto.</a:t>
            </a:r>
          </a:p>
        </p:txBody>
      </p:sp>
      <p:sp>
        <p:nvSpPr>
          <p:cNvPr id="7" name="Oval 6"/>
          <p:cNvSpPr/>
          <p:nvPr/>
        </p:nvSpPr>
        <p:spPr>
          <a:xfrm>
            <a:off x="7863840" y="3063239"/>
            <a:ext cx="365760" cy="36576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3017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F2A44"/>
                </a:solidFill>
                <a:latin typeface="Cambria"/>
              </a:rPr>
              <a:t>Prioridad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47472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A6378"/>
                </a:solidFill>
                <a:latin typeface="Calibri"/>
              </a:rPr>
              <a:t>Para cubrir también la sombra intermitente: 40,9 × 16,2 m (661 m²), todo el frente.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4526280"/>
            <a:ext cx="365760" cy="36576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4480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1F2A44"/>
                </a:solidFill>
                <a:latin typeface="Cambria"/>
              </a:rPr>
              <a:t>No hace falta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377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5A6378"/>
                </a:solidFill>
                <a:latin typeface="Calibri"/>
              </a:rPr>
              <a:t>Banda de 8,3 m junto a la pared norte: ya tiene sombra todo el evento.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5A6378"/>
                </a:solidFill>
                <a:latin typeface="Calibri"/>
              </a:rPr>
              <a:t>Cálculo geométrico del sol (17/10/2026, latitud 34,9° S); paredes sin espesor y cielo despejado.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