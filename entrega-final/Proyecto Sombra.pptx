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Bluescreens" charset="1" panose="02000508040000020004"/>
      <p:regular r:id="rId20"/>
    </p:embeddedFont>
    <p:embeddedFont>
      <p:font typeface="TT Bluescreens Medium" charset="1" panose="02000808040000020004"/>
      <p:regular r:id="rId21"/>
    </p:embeddedFont>
    <p:embeddedFont>
      <p:font typeface="Roboto" charset="1" panose="02000000000000000000"/>
      <p:regular r:id="rId22"/>
    </p:embeddedFont>
    <p:embeddedFont>
      <p:font typeface="TT Bluescreens Bold" charset="1" panose="02000806040000020004"/>
      <p:regular r:id="rId24"/>
    </p:embeddedFont>
    <p:embeddedFont>
      <p:font typeface="Roboto Bold" charset="1" panose="02000000000000000000"/>
      <p:regular r:id="rId25"/>
    </p:embeddedFont>
    <p:embeddedFont>
      <p:font typeface="Arimo Bold" charset="1" panose="020B07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1 · Lucia Martin · aprox 15 s]</a:t>
            </a:r>
          </a:p>
          <a:p>
            <a:r>
              <a:rPr lang="en-US"/>
              <a:t>Hola, somos Juan Ignacio Garbusi, Maria Eugenia Lenguas, Maria Belen Gambini y Lucia Martin. Les presentamos nuestra propuesta para dar sombra al patio rojo: una malla que se arma solo cuando se necesita. Las imágenes son renders que hicimos en Blender.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1 · Lucia Martin · aprox 30 s]</a:t>
            </a:r>
          </a:p>
          <a:p>
            <a:r>
              <a:rPr lang="en-US"/>
              <a:t>El problema: la misa central de la Fiesta Ignaciana es al mediodía, en el patio rojo, con al menos 1.100 personas sentadas.</a:t>
            </a:r>
          </a:p>
          <a:p>
            <a:r>
              <a:rPr lang="en-US"/>
              <a:t>Hoy se alquila una sola carpa de 13 por 12 metros, a unos 100.000 pesos cada vez. Cubre entre un tercio y la mitad del patio, así que mucha gente queda al sol. Y no entran más carpas: los contrapesos ocupan el espacio para circular.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1 · Lucia Martin · aprox 28 s]</a:t>
            </a:r>
          </a:p>
          <a:p>
            <a:r>
              <a:rPr lang="en-US"/>
              <a:t>Antes descartamos varias opciones.</a:t>
            </a:r>
          </a:p>
          <a:p>
            <a:r>
              <a:rPr lang="en-US"/>
              <a:t>La carpa de alquiler se paga todos los años y molesta al pasar. Gazebos y sombrillas: harían falta unos 20 y estorban la circulación. El techo de chapa queda fijo y es carísimo: nos dijeron "muy por arriba de 50 dólares el metro cuadrado", y el patio tiene unos 1.000.</a:t>
            </a:r>
          </a:p>
          <a:p>
            <a:r>
              <a:rPr lang="en-US"/>
              <a:t>Queríamos algo que dure y sirva para todos los eventos.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2 · Maria Belen Gambini · aprox 35 s]</a:t>
            </a:r>
          </a:p>
          <a:p>
            <a:r>
              <a:rPr lang="en-US"/>
              <a:t>Nuestra idea: una lona mesh de 41 por 24,5 metros, a 7 metros de altura.</a:t>
            </a:r>
          </a:p>
          <a:p>
            <a:r>
              <a:rPr lang="en-US"/>
              <a:t>Se apoya en 5 cables de acero de 16 mm que van de pared a pared, separados 6,1 metros, y en el medio la sostienen 12 postes.</a:t>
            </a:r>
          </a:p>
          <a:p>
            <a:r>
              <a:rPr lang="en-US"/>
              <a:t>La mesh tiene microperforaciones: deja pasar el aire, no se embolsa con el viento y baja el calor. Y está a 7 metros porque nada de lo que se arma en el patio pasa de 5.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2 · Maria Belen Gambini · aprox 12 s]</a:t>
            </a:r>
          </a:p>
          <a:p>
            <a:r>
              <a:rPr lang="en-US"/>
              <a:t>Así se vería desde una silla del público: todos quedan bajo la malla y los postes quedan en los pasillos, sin tapar el altar.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2 · Maria Belen Gambini · aprox 20 s]</a:t>
            </a:r>
          </a:p>
          <a:p>
            <a:r>
              <a:rPr lang="en-US"/>
              <a:t>Con lo que aprendimos de astronomía calculamos dónde cae la sombra según la hora, con el norte real del patio girado 7 grados.</a:t>
            </a:r>
          </a:p>
          <a:p>
            <a:r>
              <a:rPr lang="en-US"/>
              <a:t>Estas vistas desde arriba son a las 11:30, 12:30, 13:30 y 14:30: durante toda la misa la sombra queda sobre el público.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3 · aprox 35 s]</a:t>
            </a:r>
          </a:p>
          <a:p>
            <a:r>
              <a:rPr lang="en-US"/>
              <a:t>La clave es que se arma y se desarma.</a:t>
            </a:r>
          </a:p>
          <a:p>
            <a:r>
              <a:rPr lang="en-US"/>
              <a:t>Lo fijo: bajo cada poste, una vaina de acero en una base de hormigón, que fuera de temporada se tapa a ras del piso y el patio queda libre. En las paredes, 10 anclajes con placa de acero.</a:t>
            </a:r>
          </a:p>
          <a:p>
            <a:r>
              <a:rPr lang="en-US"/>
              <a:t>Lo que se arma: cada poste viene en 2 tramos, se mete 1 metro en la vaina y se traba con un pasador. Después se tienden los cables y se ata la lona ojal por ojal.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3 · aprox 15 s]</a:t>
            </a:r>
          </a:p>
          <a:p>
            <a:r>
              <a:rPr lang="en-US"/>
              <a:t>En Blender modelamos los detalles de las uniones: el tope del poste con el cable y su grillete, el anclaje en la pared con el tensor, y el poste en su vaina a ras del piso.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3 · aprox 37 s]</a:t>
            </a:r>
          </a:p>
          <a:p>
            <a:r>
              <a:rPr lang="en-US"/>
              <a:t>El presupuesto, con IVA y precios al 1 de octubre. Lo más caro es la lona de Romela Toldos: 14.650 dólares más IVA. Después, Appelsa por postes y vainas, Bianchi por cables y herrajes, Sodimac por los anclajes y Obelisco por la cuerda.</a:t>
            </a:r>
          </a:p>
          <a:p>
            <a:r>
              <a:rPr lang="en-US"/>
              <a:t>En total, unos 22.560 dólares más 152.000 pesos: con el dólar a 40, alrededor de un millón de pesos.</a:t>
            </a:r>
          </a:p>
          <a:p>
            <a:r>
              <a:rPr lang="en-US"/>
              <a:t>No incluye mano de obra, hormigón, ingeniero estructural ni plataforma elevadora, y nos pasamos del presupuesto inicial; por eso analizamos si conviene.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4 · aprox 43 s]</a:t>
            </a:r>
          </a:p>
          <a:p>
            <a:r>
              <a:rPr lang="en-US"/>
              <a:t>¿Vale la pena? Hoy se gastan 100.000 pesos de carpa por evento. En el gráfico, abajo están los usos por año y arriba los años para recuperar la inversión.</a:t>
            </a:r>
          </a:p>
          <a:p>
            <a:r>
              <a:rPr lang="en-US"/>
              <a:t>Supusimos solo 2 eventos al año, para ser conservadores. Con lona de 5 años (puntos verdes) se paga sola en unos 9 años. Si la lona dura 10, porque pasa casi todo el año guardada (puntos azules; supuesto nuestro, a confirmar con la proveedora), baja a unos 5.</a:t>
            </a:r>
          </a:p>
          <a:p>
            <a:r>
              <a:rPr lang="en-US"/>
              <a:t>Desde 3 usos por año da igual: 3,5 años, y con 6 menos de 2. Y la estructura queda para siempre.</a:t>
            </a:r>
          </a:p>
          <a:p>
            <a:r>
              <a:rPr lang="en-US"/>
              <a:t/>
            </a:r>
          </a:p>
          <a:p>
            <a:r>
              <a:rPr lang="en-US"/>
              <a:t>[Solo si preguntan: con 1 uso por año, la lona de 5 años nunca se recupera y la de 10 tarda unos 18 años. Con lona de 5 años, cada cambio (años 5, 10 y 15) baja el ahorro acumulado; queda estable desde los 16 años. Ahorro neto a 20 años con 2 eventos: $758.000 (lona de 5 años) y $2.217.000 (lona de 10). TIR: 6,8% y 15,8%.]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[INTEGRANTE 4 · aprox 35 s]</a:t>
            </a:r>
          </a:p>
          <a:p>
            <a:r>
              <a:rPr lang="en-US"/>
              <a:t>Para cerrar, lo que aprendimos. Cosas nuevas de verdad, como que la sombra se calcula con astronomía.</a:t>
            </a:r>
          </a:p>
          <a:p>
            <a:r>
              <a:rPr lang="en-US"/>
              <a:t>Pero lo más importante fue trabajar en equipo: nos olvidamos materiales, no hicimos en casa lo que había que hacer, y a dos clases de presentar vimos lo atrasados que estábamos.</a:t>
            </a:r>
          </a:p>
          <a:p>
            <a:r>
              <a:rPr lang="en-US"/>
              <a:t>Dos lecciones: sin roles claros, todos asumen que lo hace otro; y el tiempo que no organizamos al inicio lo pagamos al final.</a:t>
            </a:r>
          </a:p>
          <a:p>
            <a:r>
              <a:rPr lang="en-US"/>
              <a:t>Gracias. ¿Preguntas?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9" t="-1049" r="-1049" b="-104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E2A33">
                <a:alpha val="8196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19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3895" y="1679316"/>
            <a:ext cx="3262081" cy="143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4"/>
              </a:lnSpc>
            </a:pPr>
            <a:r>
              <a:rPr lang="en-US" sz="11350" spc="-110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SOMBRA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4963" y="3095035"/>
            <a:ext cx="3155225" cy="143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4"/>
              </a:lnSpc>
            </a:pPr>
            <a:r>
              <a:rPr lang="en-US" sz="11350" spc="-110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PARA 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30948" y="3095035"/>
            <a:ext cx="4282577" cy="143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4"/>
              </a:lnSpc>
            </a:pPr>
            <a:r>
              <a:rPr lang="en-US" sz="11350" spc="-110">
                <a:solidFill>
                  <a:srgbClr val="C24434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PATIO ROJO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5293" y="4445908"/>
            <a:ext cx="5480109" cy="66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5"/>
              </a:lnSpc>
            </a:pPr>
            <a:r>
              <a:rPr lang="en-US" sz="3755" b="true">
                <a:solidFill>
                  <a:srgbClr val="7DA36C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PROYECTO SOMBRA - STEM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5040" y="5562473"/>
            <a:ext cx="3502221" cy="155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0"/>
              </a:lnSpc>
            </a:pPr>
            <a:r>
              <a:rPr lang="en-US" sz="21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JUAN IGNACIO GARBUSI</a:t>
            </a:r>
          </a:p>
          <a:p>
            <a:pPr algn="l">
              <a:lnSpc>
                <a:spcPts val="3160"/>
              </a:lnSpc>
            </a:pPr>
            <a:r>
              <a:rPr lang="en-US" sz="21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LUCIA MARTIN</a:t>
            </a:r>
          </a:p>
          <a:p>
            <a:pPr algn="l">
              <a:lnSpc>
                <a:spcPts val="3160"/>
              </a:lnSpc>
            </a:pPr>
            <a:r>
              <a:rPr lang="en-US" sz="21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MARIA BELEN GAMBINI</a:t>
            </a:r>
          </a:p>
          <a:p>
            <a:pPr algn="l" marL="0" indent="0" lvl="0">
              <a:lnSpc>
                <a:spcPts val="3160"/>
              </a:lnSpc>
              <a:spcBef>
                <a:spcPct val="0"/>
              </a:spcBef>
            </a:pPr>
            <a:r>
              <a:rPr lang="en-US" sz="21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MARIA EUGENIA LENGUAS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26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23164" y="868784"/>
            <a:ext cx="5371911" cy="149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8"/>
              </a:lnSpc>
            </a:pPr>
            <a:r>
              <a:rPr lang="en-US" sz="12050" b="true">
                <a:solidFill>
                  <a:srgbClr val="F8F8F8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EL 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1918" y="4539494"/>
            <a:ext cx="3716792" cy="268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4"/>
              </a:lnSpc>
            </a:pPr>
            <a:r>
              <a:rPr lang="en-US" sz="21616" b="true">
                <a:solidFill>
                  <a:srgbClr val="86B477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1.100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58" y="6963340"/>
            <a:ext cx="2388831" cy="4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</a:pPr>
            <a:r>
              <a:rPr lang="en-US" b="true" sz="3577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PERSONAS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11110" y="4066699"/>
            <a:ext cx="229694" cy="3869923"/>
          </a:xfrm>
          <a:custGeom>
            <a:avLst/>
            <a:gdLst/>
            <a:ahLst/>
            <a:cxnLst/>
            <a:rect r="r" b="b" t="t" l="l"/>
            <a:pathLst>
              <a:path h="3869923" w="229694">
                <a:moveTo>
                  <a:pt x="0" y="0"/>
                </a:moveTo>
                <a:lnTo>
                  <a:pt x="229694" y="0"/>
                </a:lnTo>
                <a:lnTo>
                  <a:pt x="229694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00185" y="4539494"/>
            <a:ext cx="602647" cy="268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4"/>
              </a:lnSpc>
            </a:pPr>
            <a:r>
              <a:rPr lang="en-US" b="true" sz="21616">
                <a:solidFill>
                  <a:srgbClr val="C44636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99940" y="6903096"/>
            <a:ext cx="2203139" cy="944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</a:pPr>
            <a:r>
              <a:rPr lang="en-US" b="true" sz="3577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CARPA DE</a:t>
            </a:r>
          </a:p>
          <a:p>
            <a:pPr algn="ctr">
              <a:lnSpc>
                <a:spcPts val="3790"/>
              </a:lnSpc>
            </a:pPr>
            <a:r>
              <a:rPr lang="en-US" b="true" sz="3577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13 × 12 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664354" y="4066699"/>
            <a:ext cx="229694" cy="3869923"/>
          </a:xfrm>
          <a:custGeom>
            <a:avLst/>
            <a:gdLst/>
            <a:ahLst/>
            <a:cxnLst/>
            <a:rect r="r" b="b" t="t" l="l"/>
            <a:pathLst>
              <a:path h="3869923" w="229694">
                <a:moveTo>
                  <a:pt x="0" y="0"/>
                </a:moveTo>
                <a:lnTo>
                  <a:pt x="229694" y="0"/>
                </a:lnTo>
                <a:lnTo>
                  <a:pt x="229694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300971" y="4939047"/>
            <a:ext cx="5759107" cy="2098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2"/>
              </a:lnSpc>
            </a:pPr>
            <a:r>
              <a:rPr lang="en-US" sz="16813" b="true">
                <a:solidFill>
                  <a:srgbClr val="C44636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$ 100.000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27621" y="6903096"/>
            <a:ext cx="3107793" cy="4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0"/>
              </a:lnSpc>
            </a:pPr>
            <a:r>
              <a:rPr lang="en-US" b="true" sz="3577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CADA EVENTO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26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1682" y="847277"/>
            <a:ext cx="3199020" cy="134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54"/>
              </a:lnSpc>
            </a:pPr>
            <a:r>
              <a:rPr lang="en-US" sz="10054" spc="-98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LO 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4552" y="2172631"/>
            <a:ext cx="6912013" cy="134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54"/>
              </a:lnSpc>
            </a:pPr>
            <a:r>
              <a:rPr lang="en-US" sz="10054" spc="-98">
                <a:solidFill>
                  <a:srgbClr val="CB3E34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DESCARTAMOS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52500" y="5143500"/>
            <a:ext cx="1238250" cy="1428750"/>
          </a:xfrm>
          <a:custGeom>
            <a:avLst/>
            <a:gdLst/>
            <a:ahLst/>
            <a:cxnLst/>
            <a:rect r="r" b="b" t="t" l="l"/>
            <a:pathLst>
              <a:path h="1428750" w="1238250">
                <a:moveTo>
                  <a:pt x="0" y="0"/>
                </a:moveTo>
                <a:lnTo>
                  <a:pt x="1238250" y="0"/>
                </a:lnTo>
                <a:lnTo>
                  <a:pt x="12382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86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2500" y="6991350"/>
            <a:ext cx="5524500" cy="62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4650" spc="-45" b="true">
                <a:solidFill>
                  <a:srgbClr val="F6F6F6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Carpa de alquiler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762875"/>
            <a:ext cx="5524500" cy="46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3449" spc="-33" b="true">
                <a:solidFill>
                  <a:srgbClr val="89AD74"/>
                </a:solidFill>
                <a:latin typeface="Roboto Bold"/>
                <a:ea typeface="Roboto Bold"/>
                <a:cs typeface="Roboto Bold"/>
                <a:sym typeface="Roboto Bold"/>
              </a:rPr>
              <a:t>se paga cada año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0" y="6991350"/>
            <a:ext cx="5524500" cy="62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4650" spc="-45" b="true">
                <a:solidFill>
                  <a:srgbClr val="F6F6F6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Gazebos y sombrillas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0" y="7762875"/>
            <a:ext cx="5524500" cy="46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3449" spc="-33" b="true">
                <a:solidFill>
                  <a:srgbClr val="89AD74"/>
                </a:solidFill>
                <a:latin typeface="Roboto Bold"/>
                <a:ea typeface="Roboto Bold"/>
                <a:cs typeface="Roboto Bold"/>
                <a:sym typeface="Roboto Bold"/>
              </a:rPr>
              <a:t>molestan al pasar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3500" y="6991350"/>
            <a:ext cx="5524500" cy="62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4650" spc="-45" b="true">
                <a:solidFill>
                  <a:srgbClr val="F6F6F6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Techo de chapa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3500" y="7762875"/>
            <a:ext cx="5524500" cy="89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3449" spc="-31" b="true">
                <a:solidFill>
                  <a:srgbClr val="89AD74"/>
                </a:solidFill>
                <a:latin typeface="Roboto Bold"/>
                <a:ea typeface="Roboto Bold"/>
                <a:cs typeface="Roboto Bold"/>
                <a:sym typeface="Roboto Bold"/>
              </a:rPr>
              <a:t>más de USD 50.000</a:t>
            </a:r>
          </a:p>
          <a:p>
            <a:pPr algn="l">
              <a:lnSpc>
                <a:spcPts val="3449"/>
              </a:lnSpc>
            </a:pPr>
            <a:r>
              <a:rPr lang="en-US" sz="3449" spc="-33" b="true">
                <a:solidFill>
                  <a:srgbClr val="89AD74"/>
                </a:solidFill>
                <a:latin typeface="Roboto Bold"/>
                <a:ea typeface="Roboto Bold"/>
                <a:cs typeface="Roboto Bold"/>
                <a:sym typeface="Roboto Bold"/>
              </a:rPr>
              <a:t>fijo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2500" y="4762500"/>
            <a:ext cx="4953000" cy="47625"/>
            <a:chOff x="0" y="0"/>
            <a:chExt cx="6604000" cy="6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4000" cy="63500"/>
            </a:xfrm>
            <a:custGeom>
              <a:avLst/>
              <a:gdLst/>
              <a:ahLst/>
              <a:cxnLst/>
              <a:rect r="r" b="b" t="t" l="l"/>
              <a:pathLst>
                <a:path h="63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89AD7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58000" y="4762500"/>
            <a:ext cx="4953000" cy="47625"/>
            <a:chOff x="0" y="0"/>
            <a:chExt cx="6604000" cy="63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0" cy="63500"/>
            </a:xfrm>
            <a:custGeom>
              <a:avLst/>
              <a:gdLst/>
              <a:ahLst/>
              <a:cxnLst/>
              <a:rect r="r" b="b" t="t" l="l"/>
              <a:pathLst>
                <a:path h="63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89AD7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63500" y="4762500"/>
            <a:ext cx="4953000" cy="47625"/>
            <a:chOff x="0" y="0"/>
            <a:chExt cx="6604000" cy="63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4000" cy="63500"/>
            </a:xfrm>
            <a:custGeom>
              <a:avLst/>
              <a:gdLst/>
              <a:ahLst/>
              <a:cxnLst/>
              <a:rect r="r" b="b" t="t" l="l"/>
              <a:pathLst>
                <a:path h="635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89AD7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604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858000" y="5143500"/>
            <a:ext cx="1238250" cy="1428750"/>
          </a:xfrm>
          <a:custGeom>
            <a:avLst/>
            <a:gdLst/>
            <a:ahLst/>
            <a:cxnLst/>
            <a:rect r="r" b="b" t="t" l="l"/>
            <a:pathLst>
              <a:path h="1428750" w="1238250">
                <a:moveTo>
                  <a:pt x="0" y="0"/>
                </a:moveTo>
                <a:lnTo>
                  <a:pt x="1238250" y="0"/>
                </a:lnTo>
                <a:lnTo>
                  <a:pt x="12382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869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763500" y="5143500"/>
            <a:ext cx="1238250" cy="1428750"/>
          </a:xfrm>
          <a:custGeom>
            <a:avLst/>
            <a:gdLst/>
            <a:ahLst/>
            <a:cxnLst/>
            <a:rect r="r" b="b" t="t" l="l"/>
            <a:pathLst>
              <a:path h="1428750" w="1238250">
                <a:moveTo>
                  <a:pt x="0" y="0"/>
                </a:moveTo>
                <a:lnTo>
                  <a:pt x="1238250" y="0"/>
                </a:lnTo>
                <a:lnTo>
                  <a:pt x="12382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86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9" t="-1049" r="-1049" b="-104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7905750"/>
            <a:ext cx="18288000" cy="2381250"/>
            <a:chOff x="0" y="0"/>
            <a:chExt cx="24384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1E2A33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7241" y="894077"/>
            <a:ext cx="6643106" cy="254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2"/>
              </a:lnSpc>
            </a:pPr>
            <a:r>
              <a:rPr lang="en-US" sz="10992" b="true">
                <a:solidFill>
                  <a:srgbClr val="FFFFFF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MALLA MESH</a:t>
            </a:r>
          </a:p>
          <a:p>
            <a:pPr algn="l">
              <a:lnSpc>
                <a:spcPts val="9672"/>
              </a:lnSpc>
            </a:pPr>
            <a:r>
              <a:rPr lang="en-US" sz="10992" b="true">
                <a:solidFill>
                  <a:srgbClr val="FFFFFF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SOBRE CABLES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6268" y="8383162"/>
            <a:ext cx="4381767" cy="11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33"/>
              </a:lnSpc>
            </a:pPr>
            <a:r>
              <a:rPr lang="en-US" sz="9357" b="true">
                <a:solidFill>
                  <a:srgbClr val="83A96D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41 × 24,5m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71650" y="9507107"/>
            <a:ext cx="1764221" cy="29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48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SUPERFICIE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092354" y="8133399"/>
            <a:ext cx="448450" cy="1727254"/>
          </a:xfrm>
          <a:custGeom>
            <a:avLst/>
            <a:gdLst/>
            <a:ahLst/>
            <a:cxnLst/>
            <a:rect r="r" b="b" t="t" l="l"/>
            <a:pathLst>
              <a:path h="1727254" w="448450">
                <a:moveTo>
                  <a:pt x="0" y="0"/>
                </a:moveTo>
                <a:lnTo>
                  <a:pt x="448450" y="0"/>
                </a:lnTo>
                <a:lnTo>
                  <a:pt x="44845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224123" y="8383162"/>
            <a:ext cx="1510535" cy="11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33"/>
              </a:lnSpc>
            </a:pPr>
            <a:r>
              <a:rPr lang="en-US" b="true" sz="9357" spc="936">
                <a:solidFill>
                  <a:srgbClr val="C44634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7m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65813" y="9507107"/>
            <a:ext cx="1227154" cy="29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48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ALTURA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008086" y="8133399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325199" y="8383162"/>
            <a:ext cx="994165" cy="11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33"/>
              </a:lnSpc>
            </a:pPr>
            <a:r>
              <a:rPr lang="en-US" b="true" sz="9357" spc="466">
                <a:solidFill>
                  <a:srgbClr val="83A96D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17766" y="9507107"/>
            <a:ext cx="1209031" cy="29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48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POSTES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497244" y="8133399"/>
            <a:ext cx="218756" cy="1727254"/>
          </a:xfrm>
          <a:custGeom>
            <a:avLst/>
            <a:gdLst/>
            <a:ahLst/>
            <a:cxnLst/>
            <a:rect r="r" b="b" t="t" l="l"/>
            <a:pathLst>
              <a:path h="1727254" w="218756">
                <a:moveTo>
                  <a:pt x="0" y="0"/>
                </a:moveTo>
                <a:lnTo>
                  <a:pt x="218756" y="0"/>
                </a:lnTo>
                <a:lnTo>
                  <a:pt x="21875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178797" y="8383162"/>
            <a:ext cx="578950" cy="11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33"/>
              </a:lnSpc>
            </a:pPr>
            <a:r>
              <a:rPr lang="en-US" b="true" sz="9357" spc="466">
                <a:solidFill>
                  <a:srgbClr val="C44634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39397" y="9507107"/>
            <a:ext cx="1189017" cy="29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48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CABLES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9" t="-1049" r="-1049" b="-104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26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5429" y="933542"/>
            <a:ext cx="4787569" cy="118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8"/>
              </a:lnSpc>
            </a:pPr>
            <a:r>
              <a:rPr lang="en-US" sz="8938" b="true">
                <a:solidFill>
                  <a:srgbClr val="FFFFFF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LA SOMBRA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8574" y="2222454"/>
            <a:ext cx="3473053" cy="74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b="true">
                <a:solidFill>
                  <a:srgbClr val="84AD70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HORA A HORA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134488" y="2995365"/>
            <a:ext cx="229694" cy="6657580"/>
          </a:xfrm>
          <a:custGeom>
            <a:avLst/>
            <a:gdLst/>
            <a:ahLst/>
            <a:cxnLst/>
            <a:rect r="r" b="b" t="t" l="l"/>
            <a:pathLst>
              <a:path h="6657580" w="229694">
                <a:moveTo>
                  <a:pt x="0" y="0"/>
                </a:moveTo>
                <a:lnTo>
                  <a:pt x="229694" y="0"/>
                </a:lnTo>
                <a:lnTo>
                  <a:pt x="229694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6788" y="5086508"/>
            <a:ext cx="2972773" cy="74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1"/>
              </a:lnSpc>
              <a:spcBef>
                <a:spcPct val="0"/>
              </a:spcBef>
            </a:pPr>
            <a:r>
              <a:rPr lang="en-US" b="true" sz="2179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El público queda a la sombra toda la misa.</a:t>
            </a:r>
          </a:p>
        </p:txBody>
      </p:sp>
      <p:sp>
        <p:nvSpPr>
          <p:cNvPr name="Freeform 10" id="10" descr="Vistas cenitales del patio a las 11:30, 12:30, 13:30 y 14:30 con la sombra de la malla"/>
          <p:cNvSpPr/>
          <p:nvPr/>
        </p:nvSpPr>
        <p:spPr>
          <a:xfrm flipH="false" flipV="false" rot="0">
            <a:off x="5143500" y="2762250"/>
            <a:ext cx="10477500" cy="7219950"/>
          </a:xfrm>
          <a:custGeom>
            <a:avLst/>
            <a:gdLst/>
            <a:ahLst/>
            <a:cxnLst/>
            <a:rect r="r" b="b" t="t" l="l"/>
            <a:pathLst>
              <a:path h="7219950" w="10477500">
                <a:moveTo>
                  <a:pt x="0" y="0"/>
                </a:moveTo>
                <a:lnTo>
                  <a:pt x="10477500" y="0"/>
                </a:lnTo>
                <a:lnTo>
                  <a:pt x="10477500" y="7219950"/>
                </a:lnTo>
                <a:lnTo>
                  <a:pt x="0" y="7219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" t="0" r="-24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26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05406" y="749481"/>
            <a:ext cx="9826565" cy="160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0"/>
              </a:lnSpc>
            </a:pPr>
            <a:r>
              <a:rPr lang="en-US" sz="12050" spc="-117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SE ARMA Y SE DESARMA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798842" y="3214004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288819" y="3476075"/>
            <a:ext cx="773582" cy="766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8"/>
              </a:lnSpc>
            </a:pPr>
            <a:r>
              <a:rPr lang="en-US" sz="5868" spc="-57">
                <a:solidFill>
                  <a:srgbClr val="7CA671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FIJO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06028" y="4300608"/>
            <a:ext cx="1731558" cy="90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2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vainas</a:t>
            </a:r>
          </a:p>
          <a:p>
            <a:pPr algn="l">
              <a:lnSpc>
                <a:spcPts val="3639"/>
              </a:lnSpc>
            </a:pPr>
            <a:r>
              <a:rPr lang="en-US" sz="3032" spc="-2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 anclajes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798842" y="6428009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278736" y="6668973"/>
            <a:ext cx="1781909" cy="766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8"/>
              </a:lnSpc>
            </a:pPr>
            <a:r>
              <a:rPr lang="en-US" sz="5868" spc="-57">
                <a:solidFill>
                  <a:srgbClr val="C0493B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SE ARMA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84805" y="7493507"/>
            <a:ext cx="1174931" cy="90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2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postes</a:t>
            </a:r>
          </a:p>
          <a:p>
            <a:pPr algn="l">
              <a:lnSpc>
                <a:spcPts val="3639"/>
              </a:lnSpc>
            </a:pPr>
            <a:r>
              <a:rPr lang="en-US" sz="3032" spc="-2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 lona</a:t>
            </a:r>
          </a:p>
        </p:txBody>
      </p:sp>
      <p:sp>
        <p:nvSpPr>
          <p:cNvPr name="Freeform 13" id="13" descr="Esquema de la vaina enterrada con tapa (fuera de temporada) y el poste montado con la malla"/>
          <p:cNvSpPr/>
          <p:nvPr/>
        </p:nvSpPr>
        <p:spPr>
          <a:xfrm flipH="false" flipV="false" rot="0">
            <a:off x="762000" y="2667000"/>
            <a:ext cx="11811000" cy="7343775"/>
          </a:xfrm>
          <a:custGeom>
            <a:avLst/>
            <a:gdLst/>
            <a:ahLst/>
            <a:cxnLst/>
            <a:rect r="r" b="b" t="t" l="l"/>
            <a:pathLst>
              <a:path h="7343775" w="11811000">
                <a:moveTo>
                  <a:pt x="0" y="0"/>
                </a:moveTo>
                <a:lnTo>
                  <a:pt x="11811000" y="0"/>
                </a:lnTo>
                <a:lnTo>
                  <a:pt x="11811000" y="7343775"/>
                </a:lnTo>
                <a:lnTo>
                  <a:pt x="0" y="7343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2" t="0" r="-42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Render de Blender: tope del poste con el cable de acero y el grillete"/>
          <p:cNvSpPr/>
          <p:nvPr/>
        </p:nvSpPr>
        <p:spPr>
          <a:xfrm flipH="false" flipV="false" rot="0">
            <a:off x="1047750" y="2571750"/>
            <a:ext cx="4953000" cy="5943600"/>
          </a:xfrm>
          <a:custGeom>
            <a:avLst/>
            <a:gdLst/>
            <a:ahLst/>
            <a:cxnLst/>
            <a:rect r="r" b="b" t="t" l="l"/>
            <a:pathLst>
              <a:path h="5943600" w="4953000">
                <a:moveTo>
                  <a:pt x="0" y="0"/>
                </a:moveTo>
                <a:lnTo>
                  <a:pt x="4953000" y="0"/>
                </a:lnTo>
                <a:lnTo>
                  <a:pt x="4953000" y="5943600"/>
                </a:lnTo>
                <a:lnTo>
                  <a:pt x="0" y="594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" r="0" b="-50"/>
            </a:stretch>
          </a:blipFill>
        </p:spPr>
      </p:sp>
      <p:sp>
        <p:nvSpPr>
          <p:cNvPr name="Freeform 3" id="3" descr="Render de Blender: placa de anclaje en la pared con grilletes y tensor"/>
          <p:cNvSpPr/>
          <p:nvPr/>
        </p:nvSpPr>
        <p:spPr>
          <a:xfrm flipH="false" flipV="false" rot="0">
            <a:off x="6667500" y="2571750"/>
            <a:ext cx="4953000" cy="5943600"/>
          </a:xfrm>
          <a:custGeom>
            <a:avLst/>
            <a:gdLst/>
            <a:ahLst/>
            <a:cxnLst/>
            <a:rect r="r" b="b" t="t" l="l"/>
            <a:pathLst>
              <a:path h="5943600" w="4953000">
                <a:moveTo>
                  <a:pt x="0" y="0"/>
                </a:moveTo>
                <a:lnTo>
                  <a:pt x="4953000" y="0"/>
                </a:lnTo>
                <a:lnTo>
                  <a:pt x="4953000" y="5943600"/>
                </a:lnTo>
                <a:lnTo>
                  <a:pt x="0" y="594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" r="0" b="-50"/>
            </a:stretch>
          </a:blipFill>
        </p:spPr>
      </p:sp>
      <p:sp>
        <p:nvSpPr>
          <p:cNvPr name="Freeform 4" id="4" descr="Render de Blender: poste apoyado en su vaina a ras del piso"/>
          <p:cNvSpPr/>
          <p:nvPr/>
        </p:nvSpPr>
        <p:spPr>
          <a:xfrm flipH="false" flipV="false" rot="0">
            <a:off x="12287250" y="2571750"/>
            <a:ext cx="4953000" cy="5943600"/>
          </a:xfrm>
          <a:custGeom>
            <a:avLst/>
            <a:gdLst/>
            <a:ahLst/>
            <a:cxnLst/>
            <a:rect r="r" b="b" t="t" l="l"/>
            <a:pathLst>
              <a:path h="5943600" w="4953000">
                <a:moveTo>
                  <a:pt x="0" y="0"/>
                </a:moveTo>
                <a:lnTo>
                  <a:pt x="4953000" y="0"/>
                </a:lnTo>
                <a:lnTo>
                  <a:pt x="4953000" y="5943600"/>
                </a:lnTo>
                <a:lnTo>
                  <a:pt x="0" y="5943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0" r="0" b="-5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2500" y="714375"/>
            <a:ext cx="114300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9750" b="true">
                <a:solidFill>
                  <a:srgbClr val="F8F8F8"/>
                </a:solidFill>
                <a:latin typeface="Arimo Bold"/>
                <a:ea typeface="Arimo Bold"/>
                <a:cs typeface="Arimo Bold"/>
                <a:sym typeface="Arimo Bold"/>
              </a:rPr>
              <a:t>Los detalles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8734425"/>
            <a:ext cx="495300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3450" b="true">
                <a:solidFill>
                  <a:srgbClr val="89AD74"/>
                </a:solidFill>
                <a:latin typeface="Arimo Bold"/>
                <a:ea typeface="Arimo Bold"/>
                <a:cs typeface="Arimo Bold"/>
                <a:sym typeface="Arimo Bold"/>
              </a:rPr>
              <a:t>tope del poste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0" y="8734425"/>
            <a:ext cx="495300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3450" b="true">
                <a:solidFill>
                  <a:srgbClr val="89AD74"/>
                </a:solidFill>
                <a:latin typeface="Arimo Bold"/>
                <a:ea typeface="Arimo Bold"/>
                <a:cs typeface="Arimo Bold"/>
                <a:sym typeface="Arimo Bold"/>
              </a:rPr>
              <a:t>anclaje en la pared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7250" y="8734425"/>
            <a:ext cx="495300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3450" b="true">
                <a:solidFill>
                  <a:srgbClr val="89AD74"/>
                </a:solidFill>
                <a:latin typeface="Arimo Bold"/>
                <a:ea typeface="Arimo Bold"/>
                <a:cs typeface="Arimo Bold"/>
                <a:sym typeface="Arimo Bold"/>
              </a:rPr>
              <a:t>poste en su vaina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26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98710" y="974447"/>
            <a:ext cx="5138417" cy="144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5"/>
              </a:lnSpc>
            </a:pPr>
            <a:r>
              <a:rPr lang="en-US" b="true" sz="11729" spc="-234">
                <a:solidFill>
                  <a:srgbClr val="F8F8F8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PRESUPUESTO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8336" y="3754173"/>
            <a:ext cx="1212499" cy="38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3014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TOTAL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0068" y="4517081"/>
            <a:ext cx="6039277" cy="207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75"/>
              </a:lnSpc>
            </a:pPr>
            <a:r>
              <a:rPr lang="en-US" b="true" sz="16673" spc="-333">
                <a:solidFill>
                  <a:srgbClr val="C64938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$1.054.000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3283" y="6378080"/>
            <a:ext cx="1727148" cy="49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867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con IVA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0354" y="7280704"/>
            <a:ext cx="5447024" cy="229572"/>
          </a:xfrm>
          <a:custGeom>
            <a:avLst/>
            <a:gdLst/>
            <a:ahLst/>
            <a:cxnLst/>
            <a:rect r="r" b="b" t="t" l="l"/>
            <a:pathLst>
              <a:path h="229572" w="5447024">
                <a:moveTo>
                  <a:pt x="0" y="0"/>
                </a:moveTo>
                <a:lnTo>
                  <a:pt x="5447024" y="0"/>
                </a:lnTo>
                <a:lnTo>
                  <a:pt x="544702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52104" y="7922924"/>
            <a:ext cx="2845073" cy="42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3"/>
              </a:lnSpc>
              <a:spcBef>
                <a:spcPct val="0"/>
              </a:spcBef>
            </a:pPr>
            <a:r>
              <a:rPr lang="en-US" b="true" sz="3509" spc="34" strike="noStrike" u="none">
                <a:solidFill>
                  <a:srgbClr val="84B076"/>
                </a:solidFill>
                <a:latin typeface="Roboto Bold"/>
                <a:ea typeface="Roboto Bold"/>
                <a:cs typeface="Roboto Bold"/>
                <a:sym typeface="Roboto Bold"/>
              </a:rPr>
              <a:t>≈ USD 26.350</a:t>
            </a:r>
          </a:p>
        </p:txBody>
      </p:sp>
      <p:sp>
        <p:nvSpPr>
          <p:cNvPr name="Freeform 12" id="12" descr="Gráfico de barras del presupuesto por proveedor: Romela Toldos, Appelsa, Bianchi, Polietileno Obelisco y Sodimac"/>
          <p:cNvSpPr/>
          <p:nvPr/>
        </p:nvSpPr>
        <p:spPr>
          <a:xfrm flipH="false" flipV="false" rot="0">
            <a:off x="7620000" y="2381250"/>
            <a:ext cx="10287000" cy="5791200"/>
          </a:xfrm>
          <a:custGeom>
            <a:avLst/>
            <a:gdLst/>
            <a:ahLst/>
            <a:cxnLst/>
            <a:rect r="r" b="b" t="t" l="l"/>
            <a:pathLst>
              <a:path h="5791200" w="10287000">
                <a:moveTo>
                  <a:pt x="0" y="0"/>
                </a:moveTo>
                <a:lnTo>
                  <a:pt x="10287000" y="0"/>
                </a:lnTo>
                <a:lnTo>
                  <a:pt x="102870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" t="0" r="-41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26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0763" y="974447"/>
            <a:ext cx="6254153" cy="144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5"/>
              </a:lnSpc>
            </a:pPr>
            <a:r>
              <a:rPr lang="en-US" sz="11729" b="true">
                <a:solidFill>
                  <a:srgbClr val="F8F8F8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¿VALE LA PENA?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0862" y="3508663"/>
            <a:ext cx="3033330" cy="153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5"/>
              </a:lnSpc>
              <a:spcBef>
                <a:spcPct val="0"/>
              </a:spcBef>
            </a:pPr>
            <a:r>
              <a:rPr lang="en-US" b="true" sz="4075" strike="noStrike" u="non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CON 2 EVENTOS</a:t>
            </a:r>
          </a:p>
          <a:p>
            <a:pPr algn="l" marL="0" indent="0" lvl="0">
              <a:lnSpc>
                <a:spcPts val="4075"/>
              </a:lnSpc>
              <a:spcBef>
                <a:spcPct val="0"/>
              </a:spcBef>
            </a:pPr>
            <a:r>
              <a:rPr lang="en-US" b="true" sz="4075" strike="noStrike" u="non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AL AÑO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853" y="5025541"/>
            <a:ext cx="3234278" cy="138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3"/>
              </a:lnSpc>
              <a:spcBef>
                <a:spcPct val="0"/>
              </a:spcBef>
            </a:pPr>
            <a:r>
              <a:rPr lang="en-US" b="true" sz="3992" strike="noStrike" u="none">
                <a:solidFill>
                  <a:srgbClr val="BF5040"/>
                </a:solidFill>
                <a:latin typeface="Roboto Bold"/>
                <a:ea typeface="Roboto Bold"/>
                <a:cs typeface="Roboto Bold"/>
                <a:sym typeface="Roboto Bold"/>
              </a:rPr>
              <a:t>SE RECUPERA</a:t>
            </a:r>
          </a:p>
          <a:p>
            <a:pPr algn="l" marL="0" indent="0" lvl="0">
              <a:lnSpc>
                <a:spcPts val="3633"/>
              </a:lnSpc>
              <a:spcBef>
                <a:spcPct val="0"/>
              </a:spcBef>
            </a:pPr>
            <a:r>
              <a:rPr lang="en-US" b="true" sz="3992" strike="noStrike" u="none">
                <a:solidFill>
                  <a:srgbClr val="BF5040"/>
                </a:solidFill>
                <a:latin typeface="Roboto Bold"/>
                <a:ea typeface="Roboto Bold"/>
                <a:cs typeface="Roboto Bold"/>
                <a:sym typeface="Roboto Bold"/>
              </a:rPr>
              <a:t>EN UNOS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6896100"/>
            <a:ext cx="4762500" cy="111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54"/>
              </a:lnSpc>
              <a:spcBef>
                <a:spcPct val="0"/>
              </a:spcBef>
            </a:pPr>
            <a:r>
              <a:rPr lang="en-US" b="true" sz="8849" strike="noStrike" u="none">
                <a:solidFill>
                  <a:srgbClr val="BF5040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5 A 9 AÑOS</a:t>
            </a:r>
          </a:p>
        </p:txBody>
      </p:sp>
      <p:sp>
        <p:nvSpPr>
          <p:cNvPr name="Freeform 10" id="10" descr="Gráfico de puntos: años para recuperar la inversión según los usos por año, con lona de 5 años (conservador) y de 10 años (realista). Con 2 usos: 8,9 años contra 5,3 años"/>
          <p:cNvSpPr/>
          <p:nvPr/>
        </p:nvSpPr>
        <p:spPr>
          <a:xfrm flipH="false" flipV="false" rot="0">
            <a:off x="5905500" y="2571750"/>
            <a:ext cx="11906250" cy="6696075"/>
          </a:xfrm>
          <a:custGeom>
            <a:avLst/>
            <a:gdLst/>
            <a:ahLst/>
            <a:cxnLst/>
            <a:rect r="r" b="b" t="t" l="l"/>
            <a:pathLst>
              <a:path h="6696075" w="11906250">
                <a:moveTo>
                  <a:pt x="0" y="0"/>
                </a:moveTo>
                <a:lnTo>
                  <a:pt x="11906250" y="0"/>
                </a:lnTo>
                <a:lnTo>
                  <a:pt x="11906250" y="6696075"/>
                </a:lnTo>
                <a:lnTo>
                  <a:pt x="0" y="669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2500" y="7924800"/>
            <a:ext cx="4762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8F8F8"/>
                </a:solidFill>
                <a:latin typeface="Arimo Bold"/>
                <a:ea typeface="Arimo Bold"/>
                <a:cs typeface="Arimo Bold"/>
                <a:sym typeface="Arimo Bold"/>
              </a:rPr>
              <a:t>según cuánto dure la lona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9" t="-1049" r="-1049" b="-104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905000"/>
            <a:chOff x="0" y="0"/>
            <a:chExt cx="24384000" cy="254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1E2A33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6667500"/>
            <a:ext cx="18288000" cy="3619500"/>
            <a:chOff x="0" y="0"/>
            <a:chExt cx="24384000" cy="482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1E2A33">
                <a:alpha val="8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08317" y="504993"/>
            <a:ext cx="7388634" cy="112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0"/>
              </a:lnSpc>
            </a:pPr>
            <a:r>
              <a:rPr lang="en-US" b="true" sz="8101" spc="-162">
                <a:solidFill>
                  <a:srgbClr val="FFFFFF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LO QUE APRENDIMOS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01598" y="7062064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63847" y="7159553"/>
            <a:ext cx="5780891" cy="195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0"/>
              </a:lnSpc>
            </a:pPr>
            <a:r>
              <a:rPr lang="en-US" b="true" sz="4803" spc="143">
                <a:solidFill>
                  <a:srgbClr val="FFFFFF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SIN </a:t>
            </a:r>
            <a:r>
              <a:rPr lang="en-US" b="true" sz="4803" spc="143">
                <a:solidFill>
                  <a:srgbClr val="72A362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ROLES CLAROS,</a:t>
            </a:r>
          </a:p>
          <a:p>
            <a:pPr algn="l">
              <a:lnSpc>
                <a:spcPts val="5140"/>
              </a:lnSpc>
            </a:pPr>
            <a:r>
              <a:rPr lang="en-US" b="true" sz="4803" spc="143">
                <a:solidFill>
                  <a:srgbClr val="FFFFFF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TODOS ASUMEN QUE</a:t>
            </a:r>
          </a:p>
          <a:p>
            <a:pPr algn="l">
              <a:lnSpc>
                <a:spcPts val="5140"/>
              </a:lnSpc>
            </a:pPr>
            <a:r>
              <a:rPr lang="en-US" b="true" sz="4803" spc="143">
                <a:solidFill>
                  <a:srgbClr val="FFFFFF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LO HACE OTRO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7062064"/>
            <a:ext cx="437512" cy="2798589"/>
          </a:xfrm>
          <a:custGeom>
            <a:avLst/>
            <a:gdLst/>
            <a:ahLst/>
            <a:cxnLst/>
            <a:rect r="r" b="b" t="t" l="l"/>
            <a:pathLst>
              <a:path h="2798589" w="437512">
                <a:moveTo>
                  <a:pt x="0" y="0"/>
                </a:moveTo>
                <a:lnTo>
                  <a:pt x="437512" y="0"/>
                </a:lnTo>
                <a:lnTo>
                  <a:pt x="43751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714188" y="7159553"/>
            <a:ext cx="6381974" cy="260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0"/>
              </a:lnSpc>
            </a:pPr>
            <a:r>
              <a:rPr lang="en-US" b="true" sz="4803" spc="143">
                <a:solidFill>
                  <a:srgbClr val="FFFFFF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EL TIEMPO QUE</a:t>
            </a:r>
          </a:p>
          <a:p>
            <a:pPr algn="l">
              <a:lnSpc>
                <a:spcPts val="5140"/>
              </a:lnSpc>
            </a:pPr>
            <a:r>
              <a:rPr lang="en-US" b="true" sz="4803" spc="143">
                <a:solidFill>
                  <a:srgbClr val="C24135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NO ORGANIZAMOS</a:t>
            </a:r>
          </a:p>
          <a:p>
            <a:pPr algn="l">
              <a:lnSpc>
                <a:spcPts val="5140"/>
              </a:lnSpc>
            </a:pPr>
            <a:r>
              <a:rPr lang="en-US" b="true" sz="4803" spc="143">
                <a:solidFill>
                  <a:srgbClr val="FFFFFF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AL INICIO</a:t>
            </a:r>
          </a:p>
          <a:p>
            <a:pPr algn="l">
              <a:lnSpc>
                <a:spcPts val="5140"/>
              </a:lnSpc>
            </a:pPr>
            <a:r>
              <a:rPr lang="en-US" b="true" sz="4803" spc="143">
                <a:solidFill>
                  <a:srgbClr val="FFFFFF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LO </a:t>
            </a:r>
            <a:r>
              <a:rPr lang="en-US" b="true" sz="4803" spc="143">
                <a:solidFill>
                  <a:srgbClr val="C24135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PAGAMOS AL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DAHW6vYVbB0</dc:identifier>
  <dcterms:modified xsi:type="dcterms:W3CDTF">2011-08-01T06:04:30Z</dcterms:modified>
  <cp:revision>1</cp:revision>
  <dc:title>Proyecto Sombra</dc:title>
</cp:coreProperties>
</file>